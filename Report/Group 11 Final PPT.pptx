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3" r:id="rId5"/>
    <p:sldId id="259" r:id="rId6"/>
    <p:sldId id="278" r:id="rId7"/>
    <p:sldId id="260" r:id="rId8"/>
    <p:sldId id="275" r:id="rId9"/>
    <p:sldId id="261" r:id="rId10"/>
    <p:sldId id="276" r:id="rId11"/>
    <p:sldId id="262" r:id="rId12"/>
    <p:sldId id="263" r:id="rId13"/>
    <p:sldId id="264" r:id="rId14"/>
    <p:sldId id="265" r:id="rId15"/>
    <p:sldId id="279" r:id="rId16"/>
    <p:sldId id="266" r:id="rId17"/>
    <p:sldId id="280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CFF39-E148-425B-B41D-C94F64E5423F}" v="1" dt="2025-11-28T08:02:01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68" y="-6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5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0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5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5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4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1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54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3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50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3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5094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95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5108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11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1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6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6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Secure Network Design,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Firewall Configuration &amp; Attack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4050836"/>
            <a:ext cx="6957314" cy="1425939"/>
          </a:xfrm>
        </p:spPr>
        <p:txBody>
          <a:bodyPr>
            <a:normAutofit fontScale="62500" lnSpcReduction="20000"/>
          </a:bodyPr>
          <a:lstStyle/>
          <a:p>
            <a:r>
              <a:rPr sz="2000" dirty="0">
                <a:solidFill>
                  <a:srgbClr val="FFFFFF"/>
                </a:solidFill>
                <a:latin typeface="Calibri"/>
              </a:rPr>
              <a:t>Group 11 – Network Security Project</a:t>
            </a:r>
            <a:endParaRPr lang="en-US" sz="2000" dirty="0">
              <a:solidFill>
                <a:srgbClr val="FFFFFF"/>
              </a:solidFill>
              <a:latin typeface="Calibri"/>
            </a:endParaRPr>
          </a:p>
          <a:p>
            <a:r>
              <a:rPr lang="en-US" sz="2000" dirty="0">
                <a:solidFill>
                  <a:srgbClr val="FFFFFF"/>
                </a:solidFill>
                <a:latin typeface="Calibri"/>
              </a:rPr>
              <a:t>VAMSHI KRISHNA MUNIGANTI</a:t>
            </a:r>
          </a:p>
          <a:p>
            <a:r>
              <a:rPr lang="en-US" sz="2000" dirty="0">
                <a:solidFill>
                  <a:srgbClr val="FFFFFF"/>
                </a:solidFill>
                <a:latin typeface="Calibri"/>
              </a:rPr>
              <a:t>VAMSI KRISHNA VEMURI</a:t>
            </a:r>
            <a:endParaRPr sz="2000" dirty="0">
              <a:solidFill>
                <a:srgbClr val="FFFFFF"/>
              </a:solidFill>
              <a:latin typeface="Calibri"/>
            </a:endParaRPr>
          </a:p>
          <a:p>
            <a:endParaRPr sz="2000" dirty="0">
              <a:solidFill>
                <a:srgbClr val="FFFFFF"/>
              </a:solidFill>
              <a:latin typeface="Calibri"/>
            </a:endParaRPr>
          </a:p>
          <a:p>
            <a:r>
              <a:rPr sz="2000" dirty="0">
                <a:solidFill>
                  <a:srgbClr val="FFFFFF"/>
                </a:solidFill>
                <a:latin typeface="Calibri"/>
              </a:rPr>
              <a:t>Tools: GNS3, </a:t>
            </a:r>
            <a:r>
              <a:rPr sz="2000" dirty="0" err="1">
                <a:solidFill>
                  <a:srgbClr val="FFFFFF"/>
                </a:solidFill>
                <a:latin typeface="Calibri"/>
              </a:rPr>
              <a:t>Fortigate</a:t>
            </a:r>
            <a:r>
              <a:rPr sz="2000" dirty="0">
                <a:solidFill>
                  <a:srgbClr val="FFFFFF"/>
                </a:solidFill>
                <a:latin typeface="Calibri"/>
              </a:rPr>
              <a:t>, Cisco Router, Windows, Ubuntu, Kali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latin typeface="Calibri"/>
              </a:rPr>
              <a:t>Designed a segmented internal network in GNS3.</a:t>
            </a:r>
          </a:p>
          <a:p>
            <a:r>
              <a:rPr sz="2200" b="0">
                <a:latin typeface="Calibri"/>
              </a:rPr>
              <a:t>Implemented firewall policies and routing using a FortiGate firewall and Cisco router.</a:t>
            </a:r>
          </a:p>
          <a:p>
            <a:r>
              <a:rPr sz="2200" b="0">
                <a:latin typeface="Calibri"/>
              </a:rPr>
              <a:t>Built a fully offline cyber range for safe attack testing.</a:t>
            </a:r>
          </a:p>
          <a:p>
            <a:r>
              <a:rPr sz="2200" b="0">
                <a:latin typeface="Calibri"/>
              </a:rPr>
              <a:t>Simulated DoS and port scan attacks from Kali Linux to a Windows 10 host.</a:t>
            </a:r>
          </a:p>
          <a:p>
            <a:r>
              <a:rPr sz="2200" b="0">
                <a:latin typeface="Calibri"/>
              </a:rPr>
              <a:t>Captured packet flows and analyzed firewall logs for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Final Network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b="0" dirty="0">
                <a:latin typeface="Calibri"/>
              </a:rPr>
              <a:t>Kali Linux – Attacker</a:t>
            </a:r>
          </a:p>
          <a:p>
            <a:r>
              <a:rPr sz="2200" b="0" dirty="0">
                <a:latin typeface="Calibri"/>
              </a:rPr>
              <a:t>Windows 10 – Victim / Workstation</a:t>
            </a:r>
          </a:p>
          <a:p>
            <a:r>
              <a:rPr sz="2200" b="0" dirty="0">
                <a:latin typeface="Calibri"/>
              </a:rPr>
              <a:t>Ubuntu – Internal server</a:t>
            </a:r>
          </a:p>
          <a:p>
            <a:r>
              <a:rPr sz="2200" b="0" dirty="0">
                <a:latin typeface="Calibri"/>
              </a:rPr>
              <a:t>FortiGate – Firewall and traffic inspection</a:t>
            </a:r>
          </a:p>
          <a:p>
            <a:r>
              <a:rPr sz="2200" b="0" dirty="0">
                <a:latin typeface="Calibri"/>
              </a:rPr>
              <a:t>Cisco R1 – Router and inter-LAN gateway</a:t>
            </a:r>
          </a:p>
          <a:p>
            <a:r>
              <a:rPr sz="2200" b="0" dirty="0">
                <a:latin typeface="Calibri"/>
              </a:rPr>
              <a:t>ESW1 – Layer 2 switch for LAN distribution</a:t>
            </a:r>
          </a:p>
          <a:p>
            <a:endParaRPr sz="2200" b="0" dirty="0">
              <a:latin typeface="Calibri"/>
            </a:endParaRPr>
          </a:p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05D439-4DB4-A5E1-113A-C298E972C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424538"/>
            <a:ext cx="6434202" cy="3820307"/>
          </a:xfrm>
        </p:spPr>
      </p:pic>
    </p:spTree>
    <p:extLst>
      <p:ext uri="{BB962C8B-B14F-4D97-AF65-F5344CB8AC3E}">
        <p14:creationId xmlns:p14="http://schemas.microsoft.com/office/powerpoint/2010/main" val="66183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IP Addressing Scheme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61424"/>
            <a:ext cx="7100236" cy="4677878"/>
          </a:xfrm>
        </p:spPr>
        <p:txBody>
          <a:bodyPr>
            <a:normAutofit fontScale="55000" lnSpcReduction="20000"/>
          </a:bodyPr>
          <a:lstStyle/>
          <a:p>
            <a:r>
              <a:rPr sz="2200" b="0" dirty="0">
                <a:latin typeface="Calibri"/>
              </a:rPr>
              <a:t>Windows LAN: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 </a:t>
            </a:r>
            <a:r>
              <a:rPr sz="2200" b="0" dirty="0">
                <a:latin typeface="Calibri"/>
              </a:rPr>
              <a:t>  • Network: 192.168.10.0/24</a:t>
            </a:r>
            <a:endParaRPr lang="en-US" sz="2200" b="0" dirty="0">
              <a:latin typeface="Calibri"/>
            </a:endParaRP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 </a:t>
            </a:r>
            <a:r>
              <a:rPr sz="2200" b="0" dirty="0">
                <a:latin typeface="Calibri"/>
              </a:rPr>
              <a:t>  • Example host: 192.168.10.30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 </a:t>
            </a:r>
            <a:r>
              <a:rPr sz="2200" b="0" dirty="0">
                <a:latin typeface="Calibri"/>
              </a:rPr>
              <a:t>  • Default gateway: 192.168.10.1 (FortiGate port3)</a:t>
            </a:r>
          </a:p>
          <a:p>
            <a:endParaRPr sz="2200" b="0" dirty="0">
              <a:latin typeface="Calibri"/>
            </a:endParaRPr>
          </a:p>
          <a:p>
            <a:r>
              <a:rPr sz="2200" b="0" dirty="0">
                <a:latin typeface="Calibri"/>
              </a:rPr>
              <a:t>Kali LAN:</a:t>
            </a:r>
            <a:endParaRPr lang="en-US" sz="2200" dirty="0">
              <a:latin typeface="Calibri"/>
            </a:endParaRP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   </a:t>
            </a:r>
            <a:r>
              <a:rPr sz="2200" b="0" dirty="0">
                <a:latin typeface="Calibri"/>
              </a:rPr>
              <a:t>• Network: 192.168.20.0/24</a:t>
            </a:r>
            <a:endParaRPr lang="en-US" sz="2200" b="0" dirty="0">
              <a:latin typeface="Calibri"/>
            </a:endParaRP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   </a:t>
            </a:r>
            <a:r>
              <a:rPr sz="2200" b="0" dirty="0">
                <a:latin typeface="Calibri"/>
              </a:rPr>
              <a:t>• Gateway: 192.168.20.1 (R1 Fa0/1)</a:t>
            </a:r>
          </a:p>
          <a:p>
            <a:endParaRPr sz="2200" b="0" dirty="0">
              <a:latin typeface="Calibri"/>
            </a:endParaRPr>
          </a:p>
          <a:p>
            <a:r>
              <a:rPr sz="2200" b="0" dirty="0">
                <a:latin typeface="Calibri"/>
              </a:rPr>
              <a:t>Router–Firewall Transit: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 </a:t>
            </a:r>
            <a:r>
              <a:rPr sz="2200" b="0" dirty="0">
                <a:latin typeface="Calibri"/>
              </a:rPr>
              <a:t>  • Network: 10.0.0.0/24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 </a:t>
            </a:r>
            <a:r>
              <a:rPr sz="2200" b="0" dirty="0">
                <a:latin typeface="Calibri"/>
              </a:rPr>
              <a:t>  • R1: 10.0.0.1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 </a:t>
            </a:r>
            <a:r>
              <a:rPr sz="2200" b="0" dirty="0">
                <a:latin typeface="Calibri"/>
              </a:rPr>
              <a:t>  • FortiGate port2: 10.0.0.2</a:t>
            </a:r>
          </a:p>
          <a:p>
            <a:endParaRPr sz="2200" b="0" dirty="0">
              <a:latin typeface="Calibri"/>
            </a:endParaRPr>
          </a:p>
          <a:p>
            <a:r>
              <a:rPr sz="2200" b="0" dirty="0">
                <a:latin typeface="Calibri"/>
              </a:rPr>
              <a:t>Ubuntu: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 </a:t>
            </a:r>
            <a:r>
              <a:rPr sz="2200" b="0" dirty="0">
                <a:latin typeface="Calibri"/>
              </a:rPr>
              <a:t>  • 192.168.10.x</a:t>
            </a:r>
          </a:p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0AC3DB-02FC-A48A-83AB-139F878B9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015" y="1208106"/>
            <a:ext cx="6673194" cy="3825907"/>
          </a:xfrm>
        </p:spPr>
      </p:pic>
    </p:spTree>
    <p:extLst>
      <p:ext uri="{BB962C8B-B14F-4D97-AF65-F5344CB8AC3E}">
        <p14:creationId xmlns:p14="http://schemas.microsoft.com/office/powerpoint/2010/main" val="2125649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Router R1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2200" b="0">
                <a:latin typeface="Calibri"/>
              </a:rPr>
              <a:t>Interfaces:</a:t>
            </a:r>
          </a:p>
          <a:p>
            <a:r>
              <a:rPr sz="2200" b="0">
                <a:latin typeface="Calibri"/>
              </a:rPr>
              <a:t>  • FastEthernet0/0 = 10.0.0.1</a:t>
            </a:r>
          </a:p>
          <a:p>
            <a:r>
              <a:rPr sz="2200" b="0">
                <a:latin typeface="Calibri"/>
              </a:rPr>
              <a:t>  • FastEthernet0/1 = 192.168.20.1</a:t>
            </a:r>
          </a:p>
          <a:p>
            <a:endParaRPr sz="2200" b="0">
              <a:latin typeface="Calibri"/>
            </a:endParaRPr>
          </a:p>
          <a:p>
            <a:r>
              <a:rPr sz="2200" b="0">
                <a:latin typeface="Calibri"/>
              </a:rPr>
              <a:t>Static Routing:</a:t>
            </a:r>
          </a:p>
          <a:p>
            <a:r>
              <a:rPr sz="2200" b="0">
                <a:latin typeface="Calibri"/>
              </a:rPr>
              <a:t>  ip route 192.168.10.0 255.255.255.0 10.0.0.2</a:t>
            </a:r>
          </a:p>
          <a:p>
            <a:endParaRPr sz="2200" b="0">
              <a:latin typeface="Calibri"/>
            </a:endParaRPr>
          </a:p>
          <a:p>
            <a:r>
              <a:rPr sz="2200" b="0">
                <a:latin typeface="Calibri"/>
              </a:rPr>
              <a:t>R1 routes traffic between the Kali LAN (192.168.20.0/24) and the Windows/Ubuntu LAN (192.168.10.0/24).</a:t>
            </a:r>
          </a:p>
          <a:p>
            <a:r>
              <a:rPr sz="2200" b="0">
                <a:latin typeface="Calibri"/>
              </a:rPr>
              <a:t>NAT is disabled to keep the lab purely internal and offline.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790D1F-05DE-E55C-B291-2BF4FA539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933" y="1431778"/>
            <a:ext cx="6611890" cy="417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61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FortiGate Firewall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sz="2200" b="0" dirty="0">
                <a:latin typeface="Calibri"/>
              </a:rPr>
              <a:t>Interfaces: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</a:t>
            </a:r>
            <a:r>
              <a:rPr sz="2200" b="0" dirty="0">
                <a:latin typeface="Calibri"/>
              </a:rPr>
              <a:t>• port3: 192.168.10.1/24 (LAN for Windows &amp; Ubuntu)</a:t>
            </a:r>
            <a:endParaRPr lang="en-US" sz="2200" b="0" dirty="0">
              <a:latin typeface="Calibri"/>
            </a:endParaRP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 • </a:t>
            </a:r>
            <a:r>
              <a:rPr sz="2200" b="0" dirty="0">
                <a:latin typeface="Calibri"/>
              </a:rPr>
              <a:t>port2: 10.0.0.2/24 (connected to R1)</a:t>
            </a:r>
            <a:endParaRPr lang="en-US" sz="2200" b="0" dirty="0">
              <a:latin typeface="Calibri"/>
            </a:endParaRP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  </a:t>
            </a:r>
            <a:r>
              <a:rPr sz="2200" b="0" dirty="0">
                <a:latin typeface="Calibri"/>
              </a:rPr>
              <a:t> • port1: Disabled (no internet access in lab)</a:t>
            </a:r>
          </a:p>
          <a:p>
            <a:endParaRPr sz="2200" b="0" dirty="0">
              <a:latin typeface="Calibri"/>
            </a:endParaRPr>
          </a:p>
          <a:p>
            <a:r>
              <a:rPr sz="2200" b="0" dirty="0">
                <a:latin typeface="Calibri"/>
              </a:rPr>
              <a:t>Core IPv4 Policy (LAN → LAN):</a:t>
            </a: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      </a:t>
            </a:r>
            <a:r>
              <a:rPr sz="2200" b="0" dirty="0">
                <a:latin typeface="Calibri"/>
              </a:rPr>
              <a:t>• Source: All internal LANs</a:t>
            </a: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     </a:t>
            </a:r>
            <a:r>
              <a:rPr sz="2200" b="0" dirty="0">
                <a:latin typeface="Calibri"/>
              </a:rPr>
              <a:t> • Destination: All internal LANs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</a:t>
            </a:r>
            <a:r>
              <a:rPr sz="2200" b="0" dirty="0">
                <a:latin typeface="Calibri"/>
              </a:rPr>
              <a:t>  • Action: ACCEPT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</a:t>
            </a:r>
            <a:r>
              <a:rPr sz="2200" b="0" dirty="0">
                <a:latin typeface="Calibri"/>
              </a:rPr>
              <a:t>  • NAT: Disabled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</a:t>
            </a:r>
            <a:r>
              <a:rPr sz="2200" b="0" dirty="0">
                <a:latin typeface="Calibri"/>
              </a:rPr>
              <a:t>  • Logging: Enabled</a:t>
            </a:r>
          </a:p>
          <a:p>
            <a:endParaRPr sz="2200" b="0" dirty="0">
              <a:latin typeface="Calibri"/>
            </a:endParaRPr>
          </a:p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A151-A409-8C4F-2430-F287446F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DF30E9-0548-3E74-EC6A-708E638F1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544315"/>
            <a:ext cx="6623091" cy="3932460"/>
          </a:xfrm>
        </p:spPr>
      </p:pic>
    </p:spTree>
    <p:extLst>
      <p:ext uri="{BB962C8B-B14F-4D97-AF65-F5344CB8AC3E}">
        <p14:creationId xmlns:p14="http://schemas.microsoft.com/office/powerpoint/2010/main" val="1747738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Switch ESW1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 dirty="0">
                <a:latin typeface="Calibri"/>
              </a:rPr>
              <a:t>Configured as a Layer 2 switch.</a:t>
            </a:r>
          </a:p>
          <a:p>
            <a:r>
              <a:rPr sz="2200" b="0" dirty="0">
                <a:latin typeface="Calibri"/>
              </a:rPr>
              <a:t>VLAN 10 used for Windows and Ubuntu hosts.</a:t>
            </a:r>
          </a:p>
          <a:p>
            <a:r>
              <a:rPr sz="2200" b="0" dirty="0">
                <a:latin typeface="Calibri"/>
              </a:rPr>
              <a:t>Uplink port connected to FortiGate.</a:t>
            </a:r>
          </a:p>
          <a:p>
            <a:r>
              <a:rPr sz="2200" b="0" dirty="0">
                <a:latin typeface="Calibri"/>
              </a:rPr>
              <a:t>Ports verified as up and passing traffic.</a:t>
            </a:r>
          </a:p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Connectivity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 dirty="0">
                <a:latin typeface="Calibri"/>
              </a:rPr>
              <a:t>Windows → FortiGate: ICMP ping successful.</a:t>
            </a:r>
          </a:p>
          <a:p>
            <a:r>
              <a:rPr sz="2200" b="0" dirty="0">
                <a:latin typeface="Calibri"/>
              </a:rPr>
              <a:t>Kali → Router R1: ICMP ping successful.</a:t>
            </a:r>
          </a:p>
          <a:p>
            <a:r>
              <a:rPr sz="2200" b="0" dirty="0">
                <a:latin typeface="Calibri"/>
              </a:rPr>
              <a:t>Ubuntu → Windows: ICMP ping successful.</a:t>
            </a:r>
          </a:p>
          <a:p>
            <a:r>
              <a:rPr sz="2200" b="0" dirty="0">
                <a:latin typeface="Calibri"/>
              </a:rPr>
              <a:t>Inter-LAN routing validated via ping and traceroute.</a:t>
            </a:r>
          </a:p>
          <a:p>
            <a:endParaRPr sz="2200" b="0" dirty="0">
              <a:latin typeface="Calibri"/>
            </a:endParaRPr>
          </a:p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Attack Simulation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 dirty="0">
                <a:latin typeface="Calibri"/>
              </a:rPr>
              <a:t>Attacker: Kali Linux (192.168.20.x).</a:t>
            </a:r>
          </a:p>
          <a:p>
            <a:r>
              <a:rPr sz="2200" b="0" dirty="0">
                <a:latin typeface="Calibri"/>
              </a:rPr>
              <a:t>Victim: Windows 10 (192.168.10.30).</a:t>
            </a:r>
          </a:p>
          <a:p>
            <a:r>
              <a:rPr sz="2200" b="0" dirty="0">
                <a:latin typeface="Calibri"/>
              </a:rPr>
              <a:t>Tools used: </a:t>
            </a:r>
            <a:r>
              <a:rPr sz="2200" b="0" dirty="0" err="1">
                <a:latin typeface="Calibri"/>
              </a:rPr>
              <a:t>nmap</a:t>
            </a:r>
            <a:r>
              <a:rPr sz="2200" b="0" dirty="0">
                <a:latin typeface="Calibri"/>
              </a:rPr>
              <a:t> (port scanning), hping3 (DoS simulation).</a:t>
            </a:r>
          </a:p>
          <a:p>
            <a:r>
              <a:rPr sz="2200" b="0" dirty="0">
                <a:latin typeface="Calibri"/>
              </a:rPr>
              <a:t>Environment: Fully offline, isolated GNS3 lab.</a:t>
            </a:r>
          </a:p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Attack 1: Port Scan (Reconnaissance)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2200" b="0" dirty="0">
                <a:latin typeface="Calibri"/>
              </a:rPr>
              <a:t>Kali command:</a:t>
            </a:r>
            <a:r>
              <a:rPr lang="en-US" sz="2200" b="0" dirty="0">
                <a:latin typeface="Calibri"/>
              </a:rPr>
              <a:t> </a:t>
            </a:r>
            <a:r>
              <a:rPr sz="2200" b="0" dirty="0" err="1">
                <a:latin typeface="Calibri"/>
              </a:rPr>
              <a:t>nmap</a:t>
            </a:r>
            <a:r>
              <a:rPr sz="2200" b="0" dirty="0">
                <a:latin typeface="Calibri"/>
              </a:rPr>
              <a:t> -A 192.168.10.30</a:t>
            </a:r>
          </a:p>
          <a:p>
            <a:endParaRPr sz="2200" b="0" dirty="0">
              <a:latin typeface="Calibri"/>
            </a:endParaRPr>
          </a:p>
          <a:p>
            <a:r>
              <a:rPr sz="2200" b="0" dirty="0">
                <a:latin typeface="Calibri"/>
              </a:rPr>
              <a:t>Results: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</a:t>
            </a:r>
            <a:r>
              <a:rPr sz="2200" b="0" dirty="0">
                <a:latin typeface="Calibri"/>
              </a:rPr>
              <a:t>• Discovers open ports and services on the Windows </a:t>
            </a:r>
            <a:endParaRPr lang="en-US" sz="2200" b="0" dirty="0">
              <a:latin typeface="Calibri"/>
            </a:endParaRP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	   </a:t>
            </a:r>
            <a:r>
              <a:rPr sz="2200" b="0" dirty="0">
                <a:latin typeface="Calibri"/>
              </a:rPr>
              <a:t>host.</a:t>
            </a:r>
            <a:endParaRPr lang="en-US" sz="2200" b="0" dirty="0">
              <a:latin typeface="Calibri"/>
            </a:endParaRP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</a:t>
            </a:r>
            <a:r>
              <a:rPr sz="2200" b="0" dirty="0">
                <a:latin typeface="Calibri"/>
              </a:rPr>
              <a:t>• Attempts OS and service fingerprinting.</a:t>
            </a: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   </a:t>
            </a:r>
            <a:r>
              <a:rPr sz="2200" b="0" dirty="0">
                <a:latin typeface="Calibri"/>
              </a:rPr>
              <a:t> • FortiGate logs multiple TCP connection attempts </a:t>
            </a:r>
            <a:r>
              <a:rPr lang="en-US" sz="2200" b="0" dirty="0">
                <a:latin typeface="Calibri"/>
              </a:rPr>
              <a:t>	         </a:t>
            </a: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        </a:t>
            </a:r>
            <a:r>
              <a:rPr sz="2200" b="0" dirty="0">
                <a:latin typeface="Calibri"/>
              </a:rPr>
              <a:t>from Kali.</a:t>
            </a:r>
          </a:p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40CD-8477-A44B-FC20-627ABB94C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29B9D6-D2CA-B6EE-A9C0-9E76295F8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944" y="1401310"/>
            <a:ext cx="5777022" cy="3881437"/>
          </a:xfrm>
        </p:spPr>
      </p:pic>
    </p:spTree>
    <p:extLst>
      <p:ext uri="{BB962C8B-B14F-4D97-AF65-F5344CB8AC3E}">
        <p14:creationId xmlns:p14="http://schemas.microsoft.com/office/powerpoint/2010/main" val="701704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Attack 2: DoS Simulation (Safe SYN Flood)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2200" b="0" dirty="0">
                <a:latin typeface="Calibri"/>
              </a:rPr>
              <a:t>Kali command: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   </a:t>
            </a:r>
            <a:r>
              <a:rPr sz="2200" b="0" dirty="0" err="1">
                <a:latin typeface="Calibri"/>
              </a:rPr>
              <a:t>sudo</a:t>
            </a:r>
            <a:r>
              <a:rPr sz="2200" b="0" dirty="0">
                <a:latin typeface="Calibri"/>
              </a:rPr>
              <a:t> hping3 -S --flood -V 192.168.10.30</a:t>
            </a:r>
          </a:p>
          <a:p>
            <a:endParaRPr sz="2200" b="0" dirty="0">
              <a:latin typeface="Calibri"/>
            </a:endParaRPr>
          </a:p>
          <a:p>
            <a:r>
              <a:rPr sz="2200" b="0" dirty="0">
                <a:latin typeface="Calibri"/>
              </a:rPr>
              <a:t>Effects:</a:t>
            </a: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   </a:t>
            </a:r>
            <a:r>
              <a:rPr sz="2200" b="0" dirty="0">
                <a:latin typeface="Calibri"/>
              </a:rPr>
              <a:t>• Generates a high volume of TCP SYN packets to the </a:t>
            </a:r>
            <a:r>
              <a:rPr lang="en-US" sz="2200" b="0" dirty="0">
                <a:latin typeface="Calibri"/>
              </a:rPr>
              <a:t>      	  </a:t>
            </a:r>
            <a:r>
              <a:rPr sz="2200" b="0" dirty="0">
                <a:latin typeface="Calibri"/>
              </a:rPr>
              <a:t>Windows</a:t>
            </a:r>
            <a:r>
              <a:rPr lang="en-US" sz="2200" b="0" dirty="0">
                <a:latin typeface="Calibri"/>
              </a:rPr>
              <a:t> </a:t>
            </a:r>
            <a:r>
              <a:rPr sz="2200" b="0" dirty="0">
                <a:latin typeface="Calibri"/>
              </a:rPr>
              <a:t>host.</a:t>
            </a: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  </a:t>
            </a:r>
            <a:r>
              <a:rPr sz="2200" b="0" dirty="0">
                <a:latin typeface="Calibri"/>
              </a:rPr>
              <a:t> • Simulates a DoS-like scenario inside the isolated lab.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  </a:t>
            </a:r>
            <a:r>
              <a:rPr sz="2200" b="0" dirty="0">
                <a:latin typeface="Calibri"/>
              </a:rPr>
              <a:t>  • Windows may show slowdown or higher CPU usage.</a:t>
            </a:r>
            <a:endParaRPr lang="en-US" sz="2200" b="0" dirty="0">
              <a:latin typeface="Calibri"/>
            </a:endParaRPr>
          </a:p>
          <a:p>
            <a:pPr marL="0" indent="0">
              <a:buNone/>
            </a:pPr>
            <a:r>
              <a:rPr lang="en-IN" sz="2200" dirty="0">
                <a:latin typeface="Calibri"/>
              </a:rPr>
              <a:t>     </a:t>
            </a:r>
            <a:r>
              <a:rPr sz="2200" b="0" dirty="0">
                <a:latin typeface="Calibri"/>
              </a:rPr>
              <a:t>  • FortiGate logs a spike in traffic from the Kali IP.</a:t>
            </a:r>
          </a:p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0AD4-DC7C-DE56-5F79-C45E6666E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F29F12-58C6-2EAB-3F1B-AE6C9FF29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079" y="1544315"/>
            <a:ext cx="6348413" cy="3769370"/>
          </a:xfrm>
        </p:spPr>
      </p:pic>
    </p:spTree>
    <p:extLst>
      <p:ext uri="{BB962C8B-B14F-4D97-AF65-F5344CB8AC3E}">
        <p14:creationId xmlns:p14="http://schemas.microsoft.com/office/powerpoint/2010/main" val="1651247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Packet Capture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b="0" dirty="0">
                <a:latin typeface="Calibri"/>
              </a:rPr>
              <a:t>Packet capture performed using tools inside GNS3 VM (Wireshark/</a:t>
            </a:r>
            <a:r>
              <a:rPr sz="2200" b="0" dirty="0" err="1">
                <a:latin typeface="Calibri"/>
              </a:rPr>
              <a:t>tshark</a:t>
            </a:r>
            <a:r>
              <a:rPr sz="2200" b="0" dirty="0">
                <a:latin typeface="Calibri"/>
              </a:rPr>
              <a:t>).</a:t>
            </a:r>
          </a:p>
          <a:p>
            <a:r>
              <a:rPr sz="2200" b="0" dirty="0">
                <a:latin typeface="Calibri"/>
              </a:rPr>
              <a:t>Captured traffic includes:</a:t>
            </a:r>
          </a:p>
          <a:p>
            <a:pPr marL="0" indent="0">
              <a:buNone/>
            </a:pPr>
            <a:r>
              <a:rPr lang="en-IN" sz="2200" b="0" dirty="0">
                <a:latin typeface="Calibri"/>
              </a:rPr>
              <a:t>     •</a:t>
            </a:r>
            <a:r>
              <a:rPr sz="2200" b="0" dirty="0">
                <a:latin typeface="Calibri"/>
              </a:rPr>
              <a:t> ICMP echo requests and replies.</a:t>
            </a: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</a:t>
            </a:r>
            <a:r>
              <a:rPr sz="2200" b="0" dirty="0">
                <a:latin typeface="Calibri"/>
              </a:rPr>
              <a:t> • TCP SYN flood packets.</a:t>
            </a:r>
          </a:p>
          <a:p>
            <a:pPr marL="0" indent="0">
              <a:buNone/>
            </a:pPr>
            <a:r>
              <a:rPr lang="en-US" sz="2200" b="0" dirty="0">
                <a:latin typeface="Calibri"/>
              </a:rPr>
              <a:t>   </a:t>
            </a:r>
            <a:r>
              <a:rPr sz="2200" b="0" dirty="0">
                <a:latin typeface="Calibri"/>
              </a:rPr>
              <a:t>  • ARP broadcasts and responses.</a:t>
            </a:r>
          </a:p>
          <a:p>
            <a:endParaRPr sz="2200" b="0" dirty="0">
              <a:latin typeface="Calibri"/>
            </a:endParaRPr>
          </a:p>
          <a:p>
            <a:r>
              <a:rPr sz="2200" b="0" dirty="0">
                <a:latin typeface="Calibri"/>
              </a:rPr>
              <a:t>Analysis shows patterns typical of port scanning and DoS behavior.</a:t>
            </a:r>
          </a:p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Firewall Detection &amp;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b="0" dirty="0">
                <a:latin typeface="Calibri"/>
              </a:rPr>
              <a:t>FortiGate Forward Traffic logs record:</a:t>
            </a: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    </a:t>
            </a:r>
            <a:r>
              <a:rPr sz="2200" b="0" dirty="0">
                <a:latin typeface="Calibri"/>
              </a:rPr>
              <a:t>• Source IP (Kali) and destination IP (Windows).</a:t>
            </a: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    </a:t>
            </a:r>
            <a:r>
              <a:rPr sz="2200" b="0" dirty="0">
                <a:latin typeface="Calibri"/>
              </a:rPr>
              <a:t>• Protocol and port information for scans and floods.</a:t>
            </a:r>
            <a:endParaRPr lang="en-US" sz="2200" b="0" dirty="0">
              <a:latin typeface="Calibri"/>
            </a:endParaRPr>
          </a:p>
          <a:p>
            <a:pPr marL="0" indent="0">
              <a:buNone/>
            </a:pPr>
            <a:r>
              <a:rPr lang="en-US" sz="2200" dirty="0">
                <a:latin typeface="Calibri"/>
              </a:rPr>
              <a:t>       </a:t>
            </a:r>
            <a:r>
              <a:rPr sz="2200" b="0" dirty="0">
                <a:latin typeface="Calibri"/>
              </a:rPr>
              <a:t> • Timestamp and policy ID for each session.</a:t>
            </a:r>
          </a:p>
          <a:p>
            <a:endParaRPr sz="2200" b="0" dirty="0">
              <a:latin typeface="Calibri"/>
            </a:endParaRPr>
          </a:p>
          <a:p>
            <a:r>
              <a:rPr sz="2200" b="0" dirty="0">
                <a:latin typeface="Calibri"/>
              </a:rPr>
              <a:t>Logs provide strong evidence of reconnaissance and DoS-like behavior.</a:t>
            </a:r>
          </a:p>
          <a:p>
            <a:r>
              <a:rPr sz="2200" b="0" dirty="0">
                <a:latin typeface="Calibri"/>
              </a:rPr>
              <a:t>They are useful for incident analysis and reporting.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solidFill>
                  <a:srgbClr val="0F325A"/>
                </a:solidFill>
                <a:latin typeface="Calibri"/>
              </a:rPr>
              <a:t>Mitigation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200" b="0">
                <a:latin typeface="Calibri"/>
              </a:rPr>
              <a:t>Firewall-based controls:</a:t>
            </a:r>
          </a:p>
          <a:p>
            <a:pPr marL="0" indent="0">
              <a:buNone/>
            </a:pPr>
            <a:r>
              <a:rPr lang="en-US" sz="2200">
                <a:latin typeface="Calibri"/>
              </a:rPr>
              <a:t>        </a:t>
            </a:r>
            <a:r>
              <a:rPr lang="en-US" sz="2200" b="0">
                <a:latin typeface="Calibri"/>
              </a:rPr>
              <a:t>• Enable DoS protection profiles on LAN policies.</a:t>
            </a:r>
          </a:p>
          <a:p>
            <a:pPr marL="0" indent="0">
              <a:buNone/>
            </a:pPr>
            <a:r>
              <a:rPr lang="en-US" sz="2200" b="0">
                <a:latin typeface="Calibri"/>
              </a:rPr>
              <a:t>        • Use IPS signatures to detect common attacks.</a:t>
            </a:r>
          </a:p>
          <a:p>
            <a:pPr marL="0" indent="0">
              <a:buNone/>
            </a:pPr>
            <a:r>
              <a:rPr lang="en-US" sz="2200">
                <a:latin typeface="Calibri"/>
              </a:rPr>
              <a:t>       </a:t>
            </a:r>
            <a:r>
              <a:rPr lang="en-US" sz="2200" b="0">
                <a:latin typeface="Calibri"/>
              </a:rPr>
              <a:t> • Apply rate limiting on sensitive interfaces.</a:t>
            </a:r>
          </a:p>
          <a:p>
            <a:pPr marL="0" indent="0">
              <a:buNone/>
            </a:pPr>
            <a:r>
              <a:rPr lang="en-US" sz="2200">
                <a:latin typeface="Calibri"/>
              </a:rPr>
              <a:t>        </a:t>
            </a:r>
            <a:r>
              <a:rPr lang="en-US" sz="2200" b="0">
                <a:latin typeface="Calibri"/>
              </a:rPr>
              <a:t>• Block or quarantine known attacker IP addresses.</a:t>
            </a:r>
          </a:p>
          <a:p>
            <a:endParaRPr lang="en-US" sz="2200" b="0">
              <a:latin typeface="Calibri"/>
            </a:endParaRPr>
          </a:p>
          <a:p>
            <a:r>
              <a:rPr lang="en-US" sz="2200" b="0">
                <a:latin typeface="Calibri"/>
              </a:rPr>
              <a:t>Network design controls:</a:t>
            </a:r>
          </a:p>
          <a:p>
            <a:pPr marL="0" indent="0">
              <a:buNone/>
            </a:pPr>
            <a:r>
              <a:rPr lang="en-US" sz="2200">
                <a:latin typeface="Calibri"/>
              </a:rPr>
              <a:t>        </a:t>
            </a:r>
            <a:r>
              <a:rPr lang="en-US" sz="2200" b="0">
                <a:latin typeface="Calibri"/>
              </a:rPr>
              <a:t>• Maintain strong segmentation between user, server, and  	   attacker networks.</a:t>
            </a:r>
          </a:p>
          <a:p>
            <a:pPr marL="0" indent="0">
              <a:buNone/>
            </a:pPr>
            <a:r>
              <a:rPr lang="en-US" sz="2200">
                <a:latin typeface="Calibri"/>
              </a:rPr>
              <a:t>        </a:t>
            </a:r>
            <a:r>
              <a:rPr lang="en-US" sz="2200" b="0">
                <a:latin typeface="Calibri"/>
              </a:rPr>
              <a:t>• Disable unused services and ports on hosts.</a:t>
            </a:r>
          </a:p>
          <a:p>
            <a:pPr marL="0" indent="0">
              <a:buNone/>
            </a:pPr>
            <a:r>
              <a:rPr lang="en-US" sz="2200">
                <a:latin typeface="Calibri"/>
              </a:rPr>
              <a:t>        </a:t>
            </a:r>
            <a:r>
              <a:rPr lang="en-US" sz="2200" b="0">
                <a:latin typeface="Calibri"/>
              </a:rPr>
              <a:t>• Apply strict access control lists where applicable.</a:t>
            </a:r>
            <a:endParaRPr lang="en-US"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F325A"/>
                </a:solidFill>
                <a:latin typeface="Calibri"/>
              </a:rPr>
              <a:t>Project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200" b="0">
                <a:latin typeface="Calibri"/>
              </a:rPr>
              <a:t>Network segmentation limited the scope of attacks.</a:t>
            </a:r>
          </a:p>
          <a:p>
            <a:r>
              <a:rPr sz="2200" b="0">
                <a:latin typeface="Calibri"/>
              </a:rPr>
              <a:t>FortiGate firewall successfully logged and monitored malicious traffic.</a:t>
            </a:r>
          </a:p>
          <a:p>
            <a:r>
              <a:rPr sz="2200" b="0">
                <a:latin typeface="Calibri"/>
              </a:rPr>
              <a:t>DoS and port scan simulations behaved as expected in the offline lab.</a:t>
            </a:r>
          </a:p>
          <a:p>
            <a:r>
              <a:rPr sz="2200" b="0">
                <a:latin typeface="Calibri"/>
              </a:rPr>
              <a:t>Packet capture confirmed how attacks propagate within the LAN.</a:t>
            </a:r>
          </a:p>
          <a:p>
            <a:r>
              <a:rPr sz="2200" b="0">
                <a:latin typeface="Calibri"/>
              </a:rPr>
              <a:t>The lab environment is reusable for future security experiments.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0F325A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 dirty="0">
                <a:latin typeface="Calibri"/>
              </a:rPr>
              <a:t>Demonstrated secure network design with segmentation and firewall enforcement.</a:t>
            </a:r>
          </a:p>
          <a:p>
            <a:r>
              <a:rPr sz="2200" b="0" dirty="0">
                <a:latin typeface="Calibri"/>
              </a:rPr>
              <a:t>Showed how internal attacks (DoS, port scans) can be safely simulated in a lab.</a:t>
            </a:r>
          </a:p>
          <a:p>
            <a:r>
              <a:rPr sz="2200" b="0" dirty="0">
                <a:latin typeface="Calibri"/>
              </a:rPr>
              <a:t>Verified that monitoring and logging are essential for detecting abnormal behavior.</a:t>
            </a:r>
          </a:p>
          <a:p>
            <a:r>
              <a:rPr sz="2200" b="0" dirty="0">
                <a:latin typeface="Calibri"/>
              </a:rPr>
              <a:t>Gained practical, hands-on understanding of both offensive and defensive network security.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510" y="2448026"/>
            <a:ext cx="7311993" cy="2460858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rgbClr val="0F325A"/>
                </a:solidFill>
                <a:latin typeface="Calibri"/>
              </a:rPr>
              <a:t>Thank You</a:t>
            </a:r>
            <a:br>
              <a:rPr lang="en-US" sz="3200" b="1" dirty="0">
                <a:solidFill>
                  <a:srgbClr val="0F325A"/>
                </a:solidFill>
                <a:latin typeface="Calibri"/>
              </a:rPr>
            </a:br>
            <a:r>
              <a:rPr lang="en-US" sz="3200" b="1" dirty="0">
                <a:solidFill>
                  <a:srgbClr val="0F325A"/>
                </a:solidFill>
                <a:latin typeface="Calibri"/>
              </a:rPr>
              <a:t>Any Questions?</a:t>
            </a:r>
            <a:endParaRPr sz="3200" b="1" dirty="0">
              <a:solidFill>
                <a:srgbClr val="0F325A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041071"/>
            <a:ext cx="6811737" cy="4580165"/>
          </a:xfrm>
        </p:spPr>
        <p:txBody>
          <a:bodyPr/>
          <a:lstStyle/>
          <a:p>
            <a:pPr marL="0" indent="0">
              <a:buNone/>
            </a:pP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888</Words>
  <Application>Microsoft Office PowerPoint</Application>
  <PresentationFormat>On-screen Show (4:3)</PresentationFormat>
  <Paragraphs>131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Trebuchet MS</vt:lpstr>
      <vt:lpstr>Wingdings 3</vt:lpstr>
      <vt:lpstr>Facet</vt:lpstr>
      <vt:lpstr>Secure Network Design, Firewall Configuration &amp; Attack Simulation</vt:lpstr>
      <vt:lpstr>Project Overview</vt:lpstr>
      <vt:lpstr>Final Network Topology</vt:lpstr>
      <vt:lpstr>PowerPoint Presentation</vt:lpstr>
      <vt:lpstr>IP Addressing Scheme</vt:lpstr>
      <vt:lpstr>PowerPoint Presentation</vt:lpstr>
      <vt:lpstr>Router R1 Configuration</vt:lpstr>
      <vt:lpstr>PowerPoint Presentation</vt:lpstr>
      <vt:lpstr>FortiGate Firewall Configuration</vt:lpstr>
      <vt:lpstr>PowerPoint Presentation</vt:lpstr>
      <vt:lpstr>Switch ESW1 Configuration</vt:lpstr>
      <vt:lpstr>Connectivity Testing</vt:lpstr>
      <vt:lpstr>Attack Simulation Setup</vt:lpstr>
      <vt:lpstr>Attack 1: Port Scan (Reconnaissance)</vt:lpstr>
      <vt:lpstr>PowerPoint Presentation</vt:lpstr>
      <vt:lpstr>Attack 2: DoS Simulation (Safe SYN Flood)</vt:lpstr>
      <vt:lpstr>PowerPoint Presentation</vt:lpstr>
      <vt:lpstr>Packet Capture Analysis</vt:lpstr>
      <vt:lpstr>Firewall Detection &amp; Logs</vt:lpstr>
      <vt:lpstr>Mitigation Techniques</vt:lpstr>
      <vt:lpstr>Project Results</vt:lpstr>
      <vt:lpstr>Conclusion</vt:lpstr>
      <vt:lpstr>Thank You Any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khanmantharaopeta</cp:lastModifiedBy>
  <cp:revision>5</cp:revision>
  <dcterms:created xsi:type="dcterms:W3CDTF">2013-01-27T09:14:16Z</dcterms:created>
  <dcterms:modified xsi:type="dcterms:W3CDTF">2025-11-29T08:38:37Z</dcterms:modified>
  <cp:category/>
</cp:coreProperties>
</file>